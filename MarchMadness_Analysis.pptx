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7" r:id="rId11"/>
    <p:sldId id="268" r:id="rId12"/>
    <p:sldId id="270" r:id="rId13"/>
    <p:sldId id="271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C601F0-C33D-4AED-8418-A6AAD0965B08}" v="5" dt="2026-04-29T17:38:58.9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648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eghibe, Michael W" userId="19d047e5-9c41-4071-99e6-7fc18e142dcf" providerId="ADAL" clId="{4E03CE7B-4AAF-4696-8E72-F7B31D2C120D}"/>
    <pc:docChg chg="undo custSel delSld modSld">
      <pc:chgData name="Zeghibe, Michael W" userId="19d047e5-9c41-4071-99e6-7fc18e142dcf" providerId="ADAL" clId="{4E03CE7B-4AAF-4696-8E72-F7B31D2C120D}" dt="2026-04-29T18:09:55.768" v="133" actId="1076"/>
      <pc:docMkLst>
        <pc:docMk/>
      </pc:docMkLst>
      <pc:sldChg chg="addSp delSp modSp mod">
        <pc:chgData name="Zeghibe, Michael W" userId="19d047e5-9c41-4071-99e6-7fc18e142dcf" providerId="ADAL" clId="{4E03CE7B-4AAF-4696-8E72-F7B31D2C120D}" dt="2026-04-29T17:39:50.321" v="20" actId="14100"/>
        <pc:sldMkLst>
          <pc:docMk/>
          <pc:sldMk cId="0" sldId="260"/>
        </pc:sldMkLst>
        <pc:spChg chg="add del mod">
          <ac:chgData name="Zeghibe, Michael W" userId="19d047e5-9c41-4071-99e6-7fc18e142dcf" providerId="ADAL" clId="{4E03CE7B-4AAF-4696-8E72-F7B31D2C120D}" dt="2026-04-29T17:37:45.140" v="11" actId="478"/>
          <ac:spMkLst>
            <pc:docMk/>
            <pc:sldMk cId="0" sldId="260"/>
            <ac:spMk id="6" creationId="{87C5B8CA-B754-9784-C0C4-65236C915127}"/>
          </ac:spMkLst>
        </pc:spChg>
        <pc:picChg chg="mod">
          <ac:chgData name="Zeghibe, Michael W" userId="19d047e5-9c41-4071-99e6-7fc18e142dcf" providerId="ADAL" clId="{4E03CE7B-4AAF-4696-8E72-F7B31D2C120D}" dt="2026-04-29T17:39:50.321" v="20" actId="14100"/>
          <ac:picMkLst>
            <pc:docMk/>
            <pc:sldMk cId="0" sldId="260"/>
            <ac:picMk id="4" creationId="{00000000-0000-0000-0000-000000000000}"/>
          </ac:picMkLst>
        </pc:picChg>
      </pc:sldChg>
      <pc:sldChg chg="modSp mod">
        <pc:chgData name="Zeghibe, Michael W" userId="19d047e5-9c41-4071-99e6-7fc18e142dcf" providerId="ADAL" clId="{4E03CE7B-4AAF-4696-8E72-F7B31D2C120D}" dt="2026-04-27T17:47:56.425" v="4" actId="1036"/>
        <pc:sldMkLst>
          <pc:docMk/>
          <pc:sldMk cId="0" sldId="262"/>
        </pc:sldMkLst>
        <pc:picChg chg="mod">
          <ac:chgData name="Zeghibe, Michael W" userId="19d047e5-9c41-4071-99e6-7fc18e142dcf" providerId="ADAL" clId="{4E03CE7B-4AAF-4696-8E72-F7B31D2C120D}" dt="2026-04-27T17:47:56.425" v="4" actId="1036"/>
          <ac:picMkLst>
            <pc:docMk/>
            <pc:sldMk cId="0" sldId="262"/>
            <ac:picMk id="4" creationId="{00000000-0000-0000-0000-000000000000}"/>
          </ac:picMkLst>
        </pc:picChg>
      </pc:sldChg>
      <pc:sldChg chg="addSp delSp modSp del mod">
        <pc:chgData name="Zeghibe, Michael W" userId="19d047e5-9c41-4071-99e6-7fc18e142dcf" providerId="ADAL" clId="{4E03CE7B-4AAF-4696-8E72-F7B31D2C120D}" dt="2026-04-29T17:42:46.142" v="21" actId="47"/>
        <pc:sldMkLst>
          <pc:docMk/>
          <pc:sldMk cId="0" sldId="263"/>
        </pc:sldMkLst>
        <pc:spChg chg="add del mod">
          <ac:chgData name="Zeghibe, Michael W" userId="19d047e5-9c41-4071-99e6-7fc18e142dcf" providerId="ADAL" clId="{4E03CE7B-4AAF-4696-8E72-F7B31D2C120D}" dt="2026-04-29T17:38:16.422" v="16" actId="1076"/>
          <ac:spMkLst>
            <pc:docMk/>
            <pc:sldMk cId="0" sldId="263"/>
            <ac:spMk id="10" creationId="{00000000-0000-0000-0000-000000000000}"/>
          </ac:spMkLst>
        </pc:spChg>
        <pc:picChg chg="add del mod">
          <ac:chgData name="Zeghibe, Michael W" userId="19d047e5-9c41-4071-99e6-7fc18e142dcf" providerId="ADAL" clId="{4E03CE7B-4AAF-4696-8E72-F7B31D2C120D}" dt="2026-04-29T17:38:59.280" v="19" actId="478"/>
          <ac:picMkLst>
            <pc:docMk/>
            <pc:sldMk cId="0" sldId="263"/>
            <ac:picMk id="4" creationId="{00000000-0000-0000-0000-000000000000}"/>
          </ac:picMkLst>
        </pc:picChg>
        <pc:picChg chg="add mod">
          <ac:chgData name="Zeghibe, Michael W" userId="19d047e5-9c41-4071-99e6-7fc18e142dcf" providerId="ADAL" clId="{4E03CE7B-4AAF-4696-8E72-F7B31D2C120D}" dt="2026-04-29T17:38:13.638" v="14"/>
          <ac:picMkLst>
            <pc:docMk/>
            <pc:sldMk cId="0" sldId="263"/>
            <ac:picMk id="15" creationId="{B2B0F300-247F-4770-7E17-669744E7B1A2}"/>
          </ac:picMkLst>
        </pc:picChg>
        <pc:picChg chg="add mod">
          <ac:chgData name="Zeghibe, Michael W" userId="19d047e5-9c41-4071-99e6-7fc18e142dcf" providerId="ADAL" clId="{4E03CE7B-4AAF-4696-8E72-F7B31D2C120D}" dt="2026-04-29T17:38:25.272" v="18"/>
          <ac:picMkLst>
            <pc:docMk/>
            <pc:sldMk cId="0" sldId="263"/>
            <ac:picMk id="16" creationId="{D85E64D5-083C-0BD5-7B1B-8C4FBF325940}"/>
          </ac:picMkLst>
        </pc:picChg>
      </pc:sldChg>
      <pc:sldChg chg="addSp delSp modSp mod">
        <pc:chgData name="Zeghibe, Michael W" userId="19d047e5-9c41-4071-99e6-7fc18e142dcf" providerId="ADAL" clId="{4E03CE7B-4AAF-4696-8E72-F7B31D2C120D}" dt="2026-04-29T18:09:55.768" v="133" actId="1076"/>
        <pc:sldMkLst>
          <pc:docMk/>
          <pc:sldMk cId="0" sldId="265"/>
        </pc:sldMkLst>
        <pc:spChg chg="mod">
          <ac:chgData name="Zeghibe, Michael W" userId="19d047e5-9c41-4071-99e6-7fc18e142dcf" providerId="ADAL" clId="{4E03CE7B-4AAF-4696-8E72-F7B31D2C120D}" dt="2026-04-29T18:07:59.799" v="106" actId="20577"/>
          <ac:spMkLst>
            <pc:docMk/>
            <pc:sldMk cId="0" sldId="265"/>
            <ac:spMk id="6" creationId="{00000000-0000-0000-0000-000000000000}"/>
          </ac:spMkLst>
        </pc:spChg>
        <pc:spChg chg="mod">
          <ac:chgData name="Zeghibe, Michael W" userId="19d047e5-9c41-4071-99e6-7fc18e142dcf" providerId="ADAL" clId="{4E03CE7B-4AAF-4696-8E72-F7B31D2C120D}" dt="2026-04-29T18:06:19.612" v="42" actId="20577"/>
          <ac:spMkLst>
            <pc:docMk/>
            <pc:sldMk cId="0" sldId="265"/>
            <ac:spMk id="7" creationId="{00000000-0000-0000-0000-000000000000}"/>
          </ac:spMkLst>
        </pc:spChg>
        <pc:spChg chg="mod">
          <ac:chgData name="Zeghibe, Michael W" userId="19d047e5-9c41-4071-99e6-7fc18e142dcf" providerId="ADAL" clId="{4E03CE7B-4AAF-4696-8E72-F7B31D2C120D}" dt="2026-04-29T18:09:45.490" v="129" actId="14100"/>
          <ac:spMkLst>
            <pc:docMk/>
            <pc:sldMk cId="0" sldId="265"/>
            <ac:spMk id="8" creationId="{00000000-0000-0000-0000-000000000000}"/>
          </ac:spMkLst>
        </pc:spChg>
        <pc:spChg chg="mod">
          <ac:chgData name="Zeghibe, Michael W" userId="19d047e5-9c41-4071-99e6-7fc18e142dcf" providerId="ADAL" clId="{4E03CE7B-4AAF-4696-8E72-F7B31D2C120D}" dt="2026-04-29T18:09:54.106" v="132" actId="14100"/>
          <ac:spMkLst>
            <pc:docMk/>
            <pc:sldMk cId="0" sldId="265"/>
            <ac:spMk id="9" creationId="{00000000-0000-0000-0000-000000000000}"/>
          </ac:spMkLst>
        </pc:spChg>
        <pc:spChg chg="add del">
          <ac:chgData name="Zeghibe, Michael W" userId="19d047e5-9c41-4071-99e6-7fc18e142dcf" providerId="ADAL" clId="{4E03CE7B-4AAF-4696-8E72-F7B31D2C120D}" dt="2026-04-29T18:05:01.716" v="26" actId="22"/>
          <ac:spMkLst>
            <pc:docMk/>
            <pc:sldMk cId="0" sldId="265"/>
            <ac:spMk id="11" creationId="{391A6E4C-5E66-BD8F-69F1-BBE248F9F635}"/>
          </ac:spMkLst>
        </pc:spChg>
        <pc:picChg chg="del">
          <ac:chgData name="Zeghibe, Michael W" userId="19d047e5-9c41-4071-99e6-7fc18e142dcf" providerId="ADAL" clId="{4E03CE7B-4AAF-4696-8E72-F7B31D2C120D}" dt="2026-04-29T18:06:08.793" v="32" actId="478"/>
          <ac:picMkLst>
            <pc:docMk/>
            <pc:sldMk cId="0" sldId="265"/>
            <ac:picMk id="4" creationId="{00000000-0000-0000-0000-000000000000}"/>
          </ac:picMkLst>
        </pc:picChg>
        <pc:picChg chg="add del">
          <ac:chgData name="Zeghibe, Michael W" userId="19d047e5-9c41-4071-99e6-7fc18e142dcf" providerId="ADAL" clId="{4E03CE7B-4AAF-4696-8E72-F7B31D2C120D}" dt="2026-04-29T18:06:10.030" v="33" actId="478"/>
          <ac:picMkLst>
            <pc:docMk/>
            <pc:sldMk cId="0" sldId="265"/>
            <ac:picMk id="5" creationId="{00000000-0000-0000-0000-000000000000}"/>
          </ac:picMkLst>
        </pc:picChg>
        <pc:picChg chg="add del mod">
          <ac:chgData name="Zeghibe, Michael W" userId="19d047e5-9c41-4071-99e6-7fc18e142dcf" providerId="ADAL" clId="{4E03CE7B-4AAF-4696-8E72-F7B31D2C120D}" dt="2026-04-29T18:09:10.465" v="124" actId="478"/>
          <ac:picMkLst>
            <pc:docMk/>
            <pc:sldMk cId="0" sldId="265"/>
            <ac:picMk id="13" creationId="{1D44675B-943C-1354-F8D0-F67396462701}"/>
          </ac:picMkLst>
        </pc:picChg>
        <pc:picChg chg="add mod">
          <ac:chgData name="Zeghibe, Michael W" userId="19d047e5-9c41-4071-99e6-7fc18e142dcf" providerId="ADAL" clId="{4E03CE7B-4AAF-4696-8E72-F7B31D2C120D}" dt="2026-04-29T18:09:25.172" v="125" actId="14100"/>
          <ac:picMkLst>
            <pc:docMk/>
            <pc:sldMk cId="0" sldId="265"/>
            <ac:picMk id="15" creationId="{67E0E947-58EB-D702-5724-1196640EBFFD}"/>
          </ac:picMkLst>
        </pc:picChg>
        <pc:picChg chg="add mod">
          <ac:chgData name="Zeghibe, Michael W" userId="19d047e5-9c41-4071-99e6-7fc18e142dcf" providerId="ADAL" clId="{4E03CE7B-4AAF-4696-8E72-F7B31D2C120D}" dt="2026-04-29T18:08:44.869" v="118" actId="1076"/>
          <ac:picMkLst>
            <pc:docMk/>
            <pc:sldMk cId="0" sldId="265"/>
            <ac:picMk id="17" creationId="{1FB88FE1-7389-4E3D-FD36-BD242B79FBC5}"/>
          </ac:picMkLst>
        </pc:picChg>
        <pc:picChg chg="add mod">
          <ac:chgData name="Zeghibe, Michael W" userId="19d047e5-9c41-4071-99e6-7fc18e142dcf" providerId="ADAL" clId="{4E03CE7B-4AAF-4696-8E72-F7B31D2C120D}" dt="2026-04-29T18:09:55.768" v="133" actId="1076"/>
          <ac:picMkLst>
            <pc:docMk/>
            <pc:sldMk cId="0" sldId="265"/>
            <ac:picMk id="19" creationId="{A0D5F88A-CD1B-3FDE-6880-A29FE865B443}"/>
          </ac:picMkLst>
        </pc:picChg>
      </pc:sldChg>
      <pc:sldChg chg="modSp del mod">
        <pc:chgData name="Zeghibe, Michael W" userId="19d047e5-9c41-4071-99e6-7fc18e142dcf" providerId="ADAL" clId="{4E03CE7B-4AAF-4696-8E72-F7B31D2C120D}" dt="2026-04-29T17:36:46.474" v="7" actId="47"/>
        <pc:sldMkLst>
          <pc:docMk/>
          <pc:sldMk cId="0" sldId="266"/>
        </pc:sldMkLst>
      </pc:sldChg>
      <pc:sldChg chg="del">
        <pc:chgData name="Zeghibe, Michael W" userId="19d047e5-9c41-4071-99e6-7fc18e142dcf" providerId="ADAL" clId="{4E03CE7B-4AAF-4696-8E72-F7B31D2C120D}" dt="2026-04-29T17:36:33.699" v="6" actId="47"/>
        <pc:sldMkLst>
          <pc:docMk/>
          <pc:sldMk cId="0" sldId="26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1051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660A"/>
          </a:solidFill>
          <a:ln w="12700">
            <a:solidFill>
              <a:srgbClr val="E86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0" y="457200"/>
            <a:ext cx="2560320" cy="2560320"/>
          </a:xfrm>
          <a:prstGeom prst="ellipse">
            <a:avLst/>
          </a:prstGeom>
          <a:solidFill>
            <a:srgbClr val="152560"/>
          </a:solidFill>
          <a:ln w="25400">
            <a:solidFill>
              <a:srgbClr val="E86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400800" y="640080"/>
            <a:ext cx="2194560" cy="2194560"/>
          </a:xfrm>
          <a:prstGeom prst="ellipse">
            <a:avLst/>
          </a:prstGeom>
          <a:solidFill>
            <a:srgbClr val="1A2F6B"/>
          </a:solidFill>
          <a:ln w="12700">
            <a:solidFill>
              <a:srgbClr val="E86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0" y="1737360"/>
            <a:ext cx="2194560" cy="0"/>
          </a:xfrm>
          <a:prstGeom prst="line">
            <a:avLst/>
          </a:prstGeom>
          <a:noFill/>
          <a:ln w="12700">
            <a:solidFill>
              <a:srgbClr val="E86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498080" y="640080"/>
            <a:ext cx="0" cy="2194560"/>
          </a:xfrm>
          <a:prstGeom prst="line">
            <a:avLst/>
          </a:prstGeom>
          <a:noFill/>
          <a:ln w="12700">
            <a:solidFill>
              <a:srgbClr val="E86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Predictable Is
</a:t>
            </a:r>
            <a:r>
              <a:rPr lang="en-US" sz="3000" b="1" dirty="0">
                <a:solidFill>
                  <a:srgbClr val="E866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March Madness?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Analyzing Upsets &amp; Seed Performance in the NCAA Tournament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606040"/>
            <a:ext cx="5029200" cy="0"/>
          </a:xfrm>
          <a:prstGeom prst="line">
            <a:avLst/>
          </a:prstGeom>
          <a:noFill/>
          <a:ln w="19050">
            <a:solidFill>
              <a:srgbClr val="E86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A8B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Connor Correnti  •  Andrew Lynch  •  Mike Zeghibe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7090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 485  |  Spring 2026  |  NCAA Tournament Data 2008–2025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solidFill>
            <a:srgbClr val="0A1430"/>
          </a:solidFill>
          <a:ln w="12700">
            <a:solidFill>
              <a:srgbClr val="0A143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7A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NCAA Tournament Historical Results (Kaggle)  |  ~1,070 games  |  Tools: R, ggplot2, dplyr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38912" cy="5029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438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60120" y="777240"/>
            <a:ext cx="7818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97280" y="813816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Research Question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033272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March Madness? Why does it matter?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481328"/>
            <a:ext cx="438912" cy="5029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481328"/>
            <a:ext cx="438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60120" y="1481328"/>
            <a:ext cx="7818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97280" y="1517904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% by Seed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1737360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higher seeds really win more?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185416"/>
            <a:ext cx="438912" cy="5029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185416"/>
            <a:ext cx="438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60120" y="2185416"/>
            <a:ext cx="7818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97280" y="2221992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Upset Frequency by Round &amp; Matchup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2441448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matchups and rounds are most chaotic?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889504"/>
            <a:ext cx="438912" cy="5029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2889504"/>
            <a:ext cx="438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60120" y="2889504"/>
            <a:ext cx="7818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97280" y="2926080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Over Time &amp; NIL Era Impact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145536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the tournament gotten less predictable?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3593592"/>
            <a:ext cx="438912" cy="5029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3593592"/>
            <a:ext cx="438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960120" y="3593592"/>
            <a:ext cx="7818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097280" y="3630168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Deep Dives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97280" y="3849624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ANOVA, seed importance, and bracket chaos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297680"/>
            <a:ext cx="438912" cy="50292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4297680"/>
            <a:ext cx="438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6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60120" y="4297680"/>
            <a:ext cx="7818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97280" y="4334256"/>
            <a:ext cx="7498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97280" y="4553712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predictable is March Madness?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Background &amp; Research Question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56032" cy="256032"/>
          </a:xfrm>
          <a:prstGeom prst="ellipse">
            <a:avLst/>
          </a:prstGeom>
          <a:solidFill>
            <a:srgbClr val="E8660A"/>
          </a:solidFill>
          <a:ln w="12700">
            <a:solidFill>
              <a:srgbClr val="E86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8686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13232" y="777240"/>
            <a:ext cx="3977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4672" y="850392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Madness draws 100M+ viewers annually with billions wagered on brackets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527048"/>
            <a:ext cx="256032" cy="256032"/>
          </a:xfrm>
          <a:prstGeom prst="ellipse">
            <a:avLst/>
          </a:prstGeom>
          <a:solidFill>
            <a:srgbClr val="E8660A"/>
          </a:solidFill>
          <a:ln w="12700">
            <a:solidFill>
              <a:srgbClr val="E86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52704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3232" y="1435608"/>
            <a:ext cx="3977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4672" y="1508760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teams seeded 1–16 compete in a single-elimination format across 6 rounds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185416"/>
            <a:ext cx="256032" cy="256032"/>
          </a:xfrm>
          <a:prstGeom prst="ellipse">
            <a:avLst/>
          </a:prstGeom>
          <a:solidFill>
            <a:srgbClr val="E8660A"/>
          </a:solidFill>
          <a:ln w="12700">
            <a:solidFill>
              <a:srgbClr val="E86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185416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13232" y="2093976"/>
            <a:ext cx="3977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04672" y="2167128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seeds (lower numbers) should win — but frequently don't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843784"/>
            <a:ext cx="256032" cy="256032"/>
          </a:xfrm>
          <a:prstGeom prst="ellipse">
            <a:avLst/>
          </a:prstGeom>
          <a:solidFill>
            <a:srgbClr val="E8660A"/>
          </a:solidFill>
          <a:ln w="12700">
            <a:solidFill>
              <a:srgbClr val="E86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2843784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13232" y="2752344"/>
            <a:ext cx="397764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04672" y="2825496"/>
            <a:ext cx="37947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brackets are essentially impossible due to frequent upsets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983480" y="749808"/>
            <a:ext cx="3794760" cy="4114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983480" y="749808"/>
            <a:ext cx="3794760" cy="457200"/>
          </a:xfrm>
          <a:prstGeom prst="rect">
            <a:avLst/>
          </a:prstGeom>
          <a:solidFill>
            <a:srgbClr val="E8660A"/>
          </a:solidFill>
          <a:ln w="12700">
            <a:solidFill>
              <a:srgbClr val="E86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0" y="749808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120640" y="1298448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5A3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"How predictable is March Madness, and have upset rates changed over time?"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166360" y="2286000"/>
            <a:ext cx="201168" cy="0"/>
          </a:xfrm>
          <a:prstGeom prst="line">
            <a:avLst/>
          </a:prstGeom>
          <a:noFill/>
          <a:ln w="25400">
            <a:solidFill>
              <a:srgbClr val="E86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0" y="22402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seed matchups produce the most upsets?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66360" y="2898648"/>
            <a:ext cx="201168" cy="0"/>
          </a:xfrm>
          <a:prstGeom prst="line">
            <a:avLst/>
          </a:prstGeom>
          <a:noFill/>
          <a:ln w="25400">
            <a:solidFill>
              <a:srgbClr val="E86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0" y="285292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round is most chaotic?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166360" y="3511296"/>
            <a:ext cx="201168" cy="0"/>
          </a:xfrm>
          <a:prstGeom prst="line">
            <a:avLst/>
          </a:prstGeom>
          <a:noFill/>
          <a:ln w="25400">
            <a:solidFill>
              <a:srgbClr val="E86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486400" y="346557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upset rates changed over time?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166360" y="4123944"/>
            <a:ext cx="201168" cy="0"/>
          </a:xfrm>
          <a:prstGeom prst="line">
            <a:avLst/>
          </a:prstGeom>
          <a:noFill/>
          <a:ln w="25400">
            <a:solidFill>
              <a:srgbClr val="E86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486400" y="4078224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seeding matter as much in later rounds?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1: Win % by Seed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49808"/>
            <a:ext cx="594360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92240" y="777240"/>
            <a:ext cx="23774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92240" y="777240"/>
            <a:ext cx="91440" cy="1188720"/>
          </a:xfrm>
          <a:prstGeom prst="rect">
            <a:avLst/>
          </a:prstGeom>
          <a:solidFill>
            <a:srgbClr val="E8660A"/>
          </a:solidFill>
          <a:ln w="12700">
            <a:solidFill>
              <a:srgbClr val="E86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675120" y="85039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E866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80.4%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6675120" y="13441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1-seed win rate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675120" y="16184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in tournament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92240" y="2148840"/>
            <a:ext cx="23774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92240" y="2148840"/>
            <a:ext cx="91440" cy="1188720"/>
          </a:xfrm>
          <a:prstGeom prst="rect">
            <a:avLst/>
          </a:prstGeom>
          <a:solidFill>
            <a:srgbClr val="1A56A8"/>
          </a:solidFill>
          <a:ln w="12700">
            <a:solidFill>
              <a:srgbClr val="1A56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675120" y="222199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A56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62.1%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6675120" y="27157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4-seed win rate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75120" y="29900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of 'top tier'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92240" y="3520440"/>
            <a:ext cx="237744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492240" y="3520440"/>
            <a:ext cx="91440" cy="118872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675120" y="3593592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D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46.5%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6675120" y="408736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11-seed win rate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675120" y="4361688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Nearly a coin flip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74320" y="47091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1–4 consistently dominate (62–80% win rate). Seeds 5–12 are far less predictable — Seed 11 wins nearly half its games.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1b: How Deep Each Seed Advances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49808"/>
            <a:ext cx="8417504" cy="4069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1-seeds reach the Final Four ~40% of the time. Seeds 11–12 occasionally reach the Elite Eight, confirming the volatility of mid-range matchups.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2: Upset Rate by Tournament Round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49808"/>
            <a:ext cx="5943600" cy="4069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0" y="804672"/>
            <a:ext cx="24688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6400800" y="804672"/>
            <a:ext cx="91440" cy="1234440"/>
          </a:xfrm>
          <a:prstGeom prst="rect">
            <a:avLst/>
          </a:prstGeom>
          <a:solidFill>
            <a:srgbClr val="E8660A"/>
          </a:solidFill>
          <a:ln w="12700">
            <a:solidFill>
              <a:srgbClr val="E86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583680" y="868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66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44.1%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583680" y="131673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Eight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583680" y="157276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upset rate — all remaining teams are proven winners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6400800" y="2221992"/>
            <a:ext cx="24688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400800" y="2221992"/>
            <a:ext cx="91440" cy="1234440"/>
          </a:xfrm>
          <a:prstGeom prst="rect">
            <a:avLst/>
          </a:prstGeom>
          <a:solidFill>
            <a:srgbClr val="E8660A"/>
          </a:solidFill>
          <a:ln w="12700">
            <a:solidFill>
              <a:srgbClr val="E86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583680" y="22860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66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28.2%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6583680" y="273405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Round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583680" y="299008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total upsets (153) due to sheer volume of games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400800" y="3639312"/>
            <a:ext cx="2468880" cy="1234440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400800" y="3639312"/>
            <a:ext cx="91440" cy="1234440"/>
          </a:xfrm>
          <a:prstGeom prst="rect">
            <a:avLst/>
          </a:prstGeom>
          <a:solidFill>
            <a:srgbClr val="E8660A"/>
          </a:solidFill>
          <a:ln w="12700">
            <a:solidFill>
              <a:srgbClr val="E86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583680" y="3703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66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5.9%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6583680" y="415137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Championship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583680" y="4407408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Favorites dominate the final stage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2b: First Round Upset Rate by Matchup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54832"/>
            <a:ext cx="612648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37960" y="749808"/>
            <a:ext cx="2377440" cy="4572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537960" y="74980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Volatile Matchups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537960" y="1307592"/>
            <a:ext cx="23774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601968" y="1344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vs 11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516368" y="134416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66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48.5%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601968" y="158191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Essentially a coin flip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537960" y="1920240"/>
            <a:ext cx="23774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601968" y="195681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vs 9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516368" y="195681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66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48.5%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601968" y="219456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Near-random outcome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537960" y="2532888"/>
            <a:ext cx="23774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601968" y="256946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vs 12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516368" y="256946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66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41.2%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601968" y="280720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Cinderella territory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537960" y="3145536"/>
            <a:ext cx="23774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601968" y="318211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vs 10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516368" y="318211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66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40.3%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6601968" y="341985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unpredictable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537960" y="3758184"/>
            <a:ext cx="23774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601968" y="37947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vs 13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516368" y="379476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66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22.1%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601968" y="4032504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 upset risk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537960" y="4370832"/>
            <a:ext cx="23774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6601968" y="440740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vs 16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516368" y="440740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866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2.9%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601968" y="4645152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chalk in bracket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3: Upset Rate Over Time (2008–2025)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49808"/>
            <a:ext cx="8595360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74320" y="4526280"/>
            <a:ext cx="8595360" cy="4572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11480" y="4608576"/>
            <a:ext cx="146304" cy="146304"/>
          </a:xfrm>
          <a:prstGeom prst="ellipse">
            <a:avLst/>
          </a:prstGeom>
          <a:solidFill>
            <a:srgbClr val="E8660A"/>
          </a:solidFill>
          <a:ln w="12700">
            <a:solidFill>
              <a:srgbClr val="E86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21792" y="454456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slope: +0.04%/yr (p = 0.883 — not significant)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91840" y="4608576"/>
            <a:ext cx="146304" cy="146304"/>
          </a:xfrm>
          <a:prstGeom prst="ellipse">
            <a:avLst/>
          </a:prstGeom>
          <a:solidFill>
            <a:srgbClr val="E8660A"/>
          </a:solidFill>
          <a:ln w="12700">
            <a:solidFill>
              <a:srgbClr val="E86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502152" y="454456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Range: ~17%–35%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172200" y="4608576"/>
            <a:ext cx="146304" cy="146304"/>
          </a:xfrm>
          <a:prstGeom prst="ellipse">
            <a:avLst/>
          </a:prstGeom>
          <a:solidFill>
            <a:srgbClr val="E8660A"/>
          </a:solidFill>
          <a:ln w="12700">
            <a:solidFill>
              <a:srgbClr val="E86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382512" y="4544568"/>
            <a:ext cx="2606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lowest in 20 years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3b: NIL Era vs. Pre-NIL Upset Rates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274320" y="4005072"/>
            <a:ext cx="26517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4572000" y="4005072"/>
            <a:ext cx="4343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324464" y="3539613"/>
            <a:ext cx="4566101" cy="1443867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8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365761" y="3539613"/>
            <a:ext cx="4206240" cy="13452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 Era (2022+): 21.5% upset rate vs. Pre-NIL (2008–2021): 28.5%.  The NIL era shows lower upset rates across nearly every round — top programs may be better at retaining star talent. </a:t>
            </a:r>
            <a:endParaRPr lang="en-US" sz="10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7E0E947-58EB-D702-5724-1196640EB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8216" y="746471"/>
            <a:ext cx="3920674" cy="255451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FB88FE1-7389-4E3D-FD36-BD242B79FB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713232"/>
            <a:ext cx="3832218" cy="259556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0D5F88A-CD1B-3FDE-6880-A29FE865B4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1578" y="3498316"/>
            <a:ext cx="3787958" cy="1485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 Deep Dive: Are Seeds 5–12 Actually Different?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49808"/>
            <a:ext cx="6126480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0" y="749808"/>
            <a:ext cx="2331720" cy="4114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675120" y="822960"/>
            <a:ext cx="2148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6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ANOVA Results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675120" y="1280160"/>
            <a:ext cx="2148840" cy="777240"/>
          </a:xfrm>
          <a:prstGeom prst="rect">
            <a:avLst/>
          </a:prstGeom>
          <a:solidFill>
            <a:srgbClr val="152560"/>
          </a:solidFill>
          <a:ln w="63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748272" y="1316736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5 vs 12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748272" y="1554480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0.007 **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748272" y="179222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675120" y="2167128"/>
            <a:ext cx="2148840" cy="777240"/>
          </a:xfrm>
          <a:prstGeom prst="rect">
            <a:avLst/>
          </a:prstGeom>
          <a:solidFill>
            <a:srgbClr val="152560"/>
          </a:solidFill>
          <a:ln w="63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748272" y="2203704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6 vs 11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748272" y="244144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0.623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748272" y="26791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675120" y="3054096"/>
            <a:ext cx="2148840" cy="777240"/>
          </a:xfrm>
          <a:prstGeom prst="rect">
            <a:avLst/>
          </a:prstGeom>
          <a:solidFill>
            <a:srgbClr val="152560"/>
          </a:solidFill>
          <a:ln w="63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748272" y="3090672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7 vs 10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748272" y="3328416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0.094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748272" y="356616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675120" y="3941064"/>
            <a:ext cx="2148840" cy="777240"/>
          </a:xfrm>
          <a:prstGeom prst="rect">
            <a:avLst/>
          </a:prstGeom>
          <a:solidFill>
            <a:srgbClr val="152560"/>
          </a:solidFill>
          <a:ln w="6350">
            <a:solidFill>
              <a:srgbClr val="1E3A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748272" y="3977640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8 vs 9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748272" y="4215384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0.583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748272" y="44531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A9C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 Deep Dive: Seeding Importance &amp; Seed 1 vs. Seed 2</a:t>
            </a:r>
            <a:endParaRPr lang="en-US" sz="2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49808"/>
            <a:ext cx="4297680" cy="32004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749808"/>
            <a:ext cx="4160520" cy="3200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4320" y="4041648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Seeding importance weakens as the tournament progresses — r = –0.54 in Round 1 drops to –0.04 in the Elite Eight (not significant), then recovers slightly in the Final Four and Championship.</a:t>
            </a:r>
            <a:endParaRPr lang="en-US" sz="1000" dirty="0"/>
          </a:p>
        </p:txBody>
      </p:sp>
      <p:sp>
        <p:nvSpPr>
          <p:cNvPr id="7" name="Text 3"/>
          <p:cNvSpPr/>
          <p:nvPr/>
        </p:nvSpPr>
        <p:spPr>
          <a:xfrm>
            <a:off x="4754880" y="4041648"/>
            <a:ext cx="4160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1 vs. Seed 2 gap is statistically significant only in the Final Four (p = 0.048). At the Championship, the gap widens numerically (65% vs. 33%) but remains non-significant (p = 0.098) due to small sample size.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8660A"/>
          </a:solidFill>
          <a:ln w="12700">
            <a:solidFill>
              <a:srgbClr val="E86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Examples That Align With the Data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04672"/>
            <a:ext cx="2606040" cy="1828800"/>
          </a:xfrm>
          <a:prstGeom prst="rect">
            <a:avLst/>
          </a:prstGeom>
          <a:solidFill>
            <a:srgbClr val="0A1438"/>
          </a:solidFill>
          <a:ln w="6350">
            <a:solidFill>
              <a:srgbClr val="1E3A7A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75488" y="896112"/>
            <a:ext cx="502920" cy="502920"/>
          </a:xfrm>
          <a:prstGeom prst="ellipse">
            <a:avLst/>
          </a:prstGeom>
          <a:solidFill>
            <a:srgbClr val="E8660A"/>
          </a:solidFill>
          <a:ln w="12700">
            <a:solidFill>
              <a:srgbClr val="E86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75488" y="896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0704" y="9326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4630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UMBC over Virginia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81051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First-ever 16-seed win in tournament history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54680" y="804672"/>
            <a:ext cx="2606040" cy="1828800"/>
          </a:xfrm>
          <a:prstGeom prst="rect">
            <a:avLst/>
          </a:prstGeom>
          <a:solidFill>
            <a:srgbClr val="0A1438"/>
          </a:solidFill>
          <a:ln w="6350">
            <a:solidFill>
              <a:srgbClr val="1E3A7A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64408" y="896112"/>
            <a:ext cx="502920" cy="502920"/>
          </a:xfrm>
          <a:prstGeom prst="ellipse">
            <a:avLst/>
          </a:prstGeom>
          <a:solidFill>
            <a:srgbClr val="E8660A"/>
          </a:solidFill>
          <a:ln w="12700">
            <a:solidFill>
              <a:srgbClr val="E86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264408" y="896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49624" y="9326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64408" y="14630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FDU over Purdue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64408" y="181051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second 16-seed victory ever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0" y="804672"/>
            <a:ext cx="2606040" cy="1828800"/>
          </a:xfrm>
          <a:prstGeom prst="rect">
            <a:avLst/>
          </a:prstGeom>
          <a:solidFill>
            <a:srgbClr val="0A1438"/>
          </a:solidFill>
          <a:ln w="6350">
            <a:solidFill>
              <a:srgbClr val="1E3A7A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053328" y="896112"/>
            <a:ext cx="502920" cy="502920"/>
          </a:xfrm>
          <a:prstGeom prst="ellipse">
            <a:avLst/>
          </a:prstGeom>
          <a:solidFill>
            <a:srgbClr val="E8660A"/>
          </a:solidFill>
          <a:ln w="12700">
            <a:solidFill>
              <a:srgbClr val="E86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53328" y="896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638544" y="9326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53328" y="14630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Saint Peter's → Elite Eight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53328" y="181051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Deepest run by a 15-seed ever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755648" y="2834640"/>
            <a:ext cx="2606040" cy="1828800"/>
          </a:xfrm>
          <a:prstGeom prst="rect">
            <a:avLst/>
          </a:prstGeom>
          <a:solidFill>
            <a:srgbClr val="0A1438"/>
          </a:solidFill>
          <a:ln w="6350">
            <a:solidFill>
              <a:srgbClr val="1E3A7A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865376" y="2926080"/>
            <a:ext cx="502920" cy="502920"/>
          </a:xfrm>
          <a:prstGeom prst="ellipse">
            <a:avLst/>
          </a:prstGeom>
          <a:solidFill>
            <a:srgbClr val="E8660A"/>
          </a:solidFill>
          <a:ln w="12700">
            <a:solidFill>
              <a:srgbClr val="E86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865376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450592" y="29626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2018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865376" y="34930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Loyola Chicago → Final Four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865376" y="38404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Sister Jean became a national story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44568" y="2834640"/>
            <a:ext cx="2606040" cy="1828800"/>
          </a:xfrm>
          <a:prstGeom prst="rect">
            <a:avLst/>
          </a:prstGeom>
          <a:solidFill>
            <a:srgbClr val="0A1438"/>
          </a:solidFill>
          <a:ln w="6350">
            <a:solidFill>
              <a:srgbClr val="1E3A7A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654296" y="2926080"/>
            <a:ext cx="502920" cy="502920"/>
          </a:xfrm>
          <a:prstGeom prst="ellipse">
            <a:avLst/>
          </a:prstGeom>
          <a:solidFill>
            <a:srgbClr val="E8660A"/>
          </a:solidFill>
          <a:ln w="12700">
            <a:solidFill>
              <a:srgbClr val="E86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54296" y="2926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239512" y="29626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5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654296" y="34930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State → Final Four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654296" y="3840480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E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5 consecutive elimination games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E8660A"/>
          </a:solidFill>
          <a:ln w="12700">
            <a:solidFill>
              <a:srgbClr val="E86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Conclusion: How Predictable Is March Madness?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75488" cy="475488"/>
          </a:xfrm>
          <a:prstGeom prst="ellipse">
            <a:avLst/>
          </a:prstGeom>
          <a:solidFill>
            <a:srgbClr val="E8660A"/>
          </a:solidFill>
          <a:ln w="12700">
            <a:solidFill>
              <a:srgbClr val="E86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9144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0120" y="749808"/>
            <a:ext cx="7818120" cy="822960"/>
          </a:xfrm>
          <a:prstGeom prst="rect">
            <a:avLst/>
          </a:prstGeom>
          <a:solidFill>
            <a:srgbClr val="0A1438"/>
          </a:solidFill>
          <a:ln w="1905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60120" y="749808"/>
            <a:ext cx="109728" cy="822960"/>
          </a:xfrm>
          <a:prstGeom prst="rect">
            <a:avLst/>
          </a:prstGeom>
          <a:solidFill>
            <a:srgbClr val="0D7A5F"/>
          </a:solidFill>
          <a:ln w="12700">
            <a:solidFill>
              <a:srgbClr val="0D7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70432" y="78638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Partially Predictable at the Top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70432" y="1060704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1–4 win 62–80% of games. Bracket structure genuinely reflects team quality.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1920240"/>
            <a:ext cx="475488" cy="475488"/>
          </a:xfrm>
          <a:prstGeom prst="ellipse">
            <a:avLst/>
          </a:prstGeom>
          <a:solidFill>
            <a:srgbClr val="E8660A"/>
          </a:solidFill>
          <a:ln w="12700">
            <a:solidFill>
              <a:srgbClr val="E86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19202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60120" y="1755648"/>
            <a:ext cx="7818120" cy="822960"/>
          </a:xfrm>
          <a:prstGeom prst="rect">
            <a:avLst/>
          </a:prstGeom>
          <a:solidFill>
            <a:srgbClr val="0A1438"/>
          </a:solidFill>
          <a:ln w="1905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60120" y="1755648"/>
            <a:ext cx="109728" cy="8229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70432" y="179222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Volatile in the Middle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70432" y="2066544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Seeds 5–12 produce 40–48% upset rates. 6 vs 11 and 8 vs 9 are essentially coin flips.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2926080"/>
            <a:ext cx="475488" cy="475488"/>
          </a:xfrm>
          <a:prstGeom prst="ellipse">
            <a:avLst/>
          </a:prstGeom>
          <a:solidFill>
            <a:srgbClr val="E8660A"/>
          </a:solidFill>
          <a:ln w="12700">
            <a:solidFill>
              <a:srgbClr val="E86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29260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60120" y="2761488"/>
            <a:ext cx="7818120" cy="822960"/>
          </a:xfrm>
          <a:prstGeom prst="rect">
            <a:avLst/>
          </a:prstGeom>
          <a:solidFill>
            <a:srgbClr val="0A1438"/>
          </a:solidFill>
          <a:ln w="19050">
            <a:solidFill>
              <a:srgbClr val="1A56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60120" y="2761488"/>
            <a:ext cx="109728" cy="822960"/>
          </a:xfrm>
          <a:prstGeom prst="rect">
            <a:avLst/>
          </a:prstGeom>
          <a:solidFill>
            <a:srgbClr val="1A56A8"/>
          </a:solidFill>
          <a:ln w="12700">
            <a:solidFill>
              <a:srgbClr val="1A56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170432" y="279806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Matters Most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70432" y="3072384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Elite Eight: highest upset rate (44.1%). Championship: most predictable (5.9%). Chaos peaks mid-tournament.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0040" y="3931920"/>
            <a:ext cx="475488" cy="475488"/>
          </a:xfrm>
          <a:prstGeom prst="ellipse">
            <a:avLst/>
          </a:prstGeom>
          <a:solidFill>
            <a:srgbClr val="E8660A"/>
          </a:solidFill>
          <a:ln w="12700">
            <a:solidFill>
              <a:srgbClr val="E8660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20040" y="393192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60120" y="3767328"/>
            <a:ext cx="7818120" cy="822960"/>
          </a:xfrm>
          <a:prstGeom prst="rect">
            <a:avLst/>
          </a:prstGeom>
          <a:solidFill>
            <a:srgbClr val="0A1438"/>
          </a:solidFill>
          <a:ln w="1905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60120" y="3767328"/>
            <a:ext cx="109728" cy="8229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170432" y="3803904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3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Time Trend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70432" y="4078224"/>
            <a:ext cx="7498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Upset rates fluctuated 17–35% since 2008 with no statistically significant trajectory.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090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"March Madness is partially predictable at the extremes — but fundamentally chaotic in the middle rounds where games are decided."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29196f36-1d5e-4d26-8945-3be41ba81178}" enabled="0" method="" siteId="{29196f36-1d5e-4d26-8945-3be41ba8117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863</Words>
  <Application>Microsoft Office PowerPoint</Application>
  <PresentationFormat>On-screen Show (16:9)</PresentationFormat>
  <Paragraphs>153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Predictable Is March Madness?</dc:title>
  <dc:subject>PptxGenJS Presentation</dc:subject>
  <dc:creator>PptxGenJS</dc:creator>
  <cp:lastModifiedBy>Zeghibe, Michael W</cp:lastModifiedBy>
  <cp:revision>1</cp:revision>
  <dcterms:created xsi:type="dcterms:W3CDTF">2026-04-27T17:42:58Z</dcterms:created>
  <dcterms:modified xsi:type="dcterms:W3CDTF">2026-04-29T18:10:05Z</dcterms:modified>
</cp:coreProperties>
</file>