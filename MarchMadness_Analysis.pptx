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108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10516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8660A"/>
          </a:solidFill>
          <a:ln w="12700">
            <a:solidFill>
              <a:srgbClr val="E866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217920" y="457200"/>
            <a:ext cx="2560320" cy="2560320"/>
          </a:xfrm>
          <a:prstGeom prst="ellipse">
            <a:avLst/>
          </a:prstGeom>
          <a:solidFill>
            <a:srgbClr val="152560"/>
          </a:solidFill>
          <a:ln w="25400">
            <a:solidFill>
              <a:srgbClr val="E866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400800" y="640080"/>
            <a:ext cx="2194560" cy="2194560"/>
          </a:xfrm>
          <a:prstGeom prst="ellipse">
            <a:avLst/>
          </a:prstGeom>
          <a:solidFill>
            <a:srgbClr val="1A2F6B"/>
          </a:solidFill>
          <a:ln w="12700">
            <a:solidFill>
              <a:srgbClr val="E866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400800" y="1737360"/>
            <a:ext cx="2194560" cy="0"/>
          </a:xfrm>
          <a:prstGeom prst="line">
            <a:avLst/>
          </a:prstGeom>
          <a:noFill/>
          <a:ln w="12700">
            <a:solidFill>
              <a:srgbClr val="E866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498080" y="640080"/>
            <a:ext cx="0" cy="2194560"/>
          </a:xfrm>
          <a:prstGeom prst="line">
            <a:avLst/>
          </a:prstGeom>
          <a:noFill/>
          <a:ln w="12700">
            <a:solidFill>
              <a:srgbClr val="E866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502920"/>
            <a:ext cx="54864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Predictable Is
</a:t>
            </a:r>
            <a:r>
              <a:rPr lang="en-US" sz="3000" b="1" dirty="0">
                <a:solidFill>
                  <a:srgbClr val="E866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March Madness?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457200" y="20116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Analyzing Upsets &amp; Seed Performance in the NCAA Tournament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606040"/>
            <a:ext cx="5029200" cy="0"/>
          </a:xfrm>
          <a:prstGeom prst="line">
            <a:avLst/>
          </a:prstGeom>
          <a:noFill/>
          <a:ln w="19050">
            <a:solidFill>
              <a:srgbClr val="E866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27889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A8BE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Connor Correnti  •  Andrew Lynch  •  Mike Zeghibe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1546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7090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485  |  Spring 2026  |  NCAA Tournament Data 2008–2025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solidFill>
            <a:srgbClr val="0A1430"/>
          </a:solidFill>
          <a:ln w="12700">
            <a:solidFill>
              <a:srgbClr val="0A14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7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 NCAA Tournament Historical Results (Kaggle)  |  ~1,070 games  |  Tools: R, ggplot2, dplyr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438912" cy="50292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438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6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60120" y="777240"/>
            <a:ext cx="78181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97280" y="813816"/>
            <a:ext cx="7498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&amp; Research Question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97280" y="1033272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March Madness? Why does it matter?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" y="1481328"/>
            <a:ext cx="438912" cy="50292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65760" y="1481328"/>
            <a:ext cx="438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6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60120" y="1481328"/>
            <a:ext cx="78181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097280" y="1517904"/>
            <a:ext cx="7498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% by Seed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7280" y="1737360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higher seeds really win more?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2185416"/>
            <a:ext cx="438912" cy="50292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65760" y="2185416"/>
            <a:ext cx="438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6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60120" y="2185416"/>
            <a:ext cx="78181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097280" y="2221992"/>
            <a:ext cx="7498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Upset Frequency by Round &amp; Matchup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97280" y="2441448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matchups and rounds are most chaotic?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2889504"/>
            <a:ext cx="438912" cy="50292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65760" y="2889504"/>
            <a:ext cx="438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6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960120" y="2889504"/>
            <a:ext cx="78181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097280" y="2926080"/>
            <a:ext cx="7498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Trends Over Time &amp; NIL Era Impact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97280" y="3145536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the tournament gotten less predictable?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3593592"/>
            <a:ext cx="438912" cy="50292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65760" y="3593592"/>
            <a:ext cx="438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6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960120" y="3593592"/>
            <a:ext cx="78181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1097280" y="3630168"/>
            <a:ext cx="7498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Deep Dives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97280" y="3849624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ANOVA, seed importance, and bracket chaos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760" y="4297680"/>
            <a:ext cx="438912" cy="50292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365760" y="4297680"/>
            <a:ext cx="4389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6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960120" y="4297680"/>
            <a:ext cx="781812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1097280" y="4334256"/>
            <a:ext cx="7498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097280" y="4553712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predictable is March Madness?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Background &amp; Research Question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256032" cy="256032"/>
          </a:xfrm>
          <a:prstGeom prst="ellipse">
            <a:avLst/>
          </a:prstGeom>
          <a:solidFill>
            <a:srgbClr val="E8660A"/>
          </a:solidFill>
          <a:ln w="12700">
            <a:solidFill>
              <a:srgbClr val="E866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20040" y="86868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13232" y="777240"/>
            <a:ext cx="39776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04672" y="850392"/>
            <a:ext cx="3794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 Madness draws 100M+ viewers annually with billions wagered on brackets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" y="1527048"/>
            <a:ext cx="256032" cy="256032"/>
          </a:xfrm>
          <a:prstGeom prst="ellipse">
            <a:avLst/>
          </a:prstGeom>
          <a:solidFill>
            <a:srgbClr val="E8660A"/>
          </a:solidFill>
          <a:ln w="12700">
            <a:solidFill>
              <a:srgbClr val="E866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20040" y="1527048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13232" y="1435608"/>
            <a:ext cx="39776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04672" y="1508760"/>
            <a:ext cx="3794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 teams seeded 1–16 compete in a single-elimination format across 6 rounds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185416"/>
            <a:ext cx="256032" cy="256032"/>
          </a:xfrm>
          <a:prstGeom prst="ellipse">
            <a:avLst/>
          </a:prstGeom>
          <a:solidFill>
            <a:srgbClr val="E8660A"/>
          </a:solidFill>
          <a:ln w="12700">
            <a:solidFill>
              <a:srgbClr val="E866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0040" y="2185416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13232" y="2093976"/>
            <a:ext cx="39776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04672" y="2167128"/>
            <a:ext cx="3794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seeds (lower numbers) should win — but frequently don't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0040" y="2843784"/>
            <a:ext cx="256032" cy="256032"/>
          </a:xfrm>
          <a:prstGeom prst="ellipse">
            <a:avLst/>
          </a:prstGeom>
          <a:solidFill>
            <a:srgbClr val="E8660A"/>
          </a:solidFill>
          <a:ln w="12700">
            <a:solidFill>
              <a:srgbClr val="E866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20040" y="284378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13232" y="2752344"/>
            <a:ext cx="39776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04672" y="2825496"/>
            <a:ext cx="3794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 brackets are essentially impossible due to frequent upsets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983480" y="749808"/>
            <a:ext cx="3794760" cy="41148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983480" y="749808"/>
            <a:ext cx="3794760" cy="457200"/>
          </a:xfrm>
          <a:prstGeom prst="rect">
            <a:avLst/>
          </a:prstGeom>
          <a:solidFill>
            <a:srgbClr val="E8660A"/>
          </a:solidFill>
          <a:ln w="12700">
            <a:solidFill>
              <a:srgbClr val="E866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029200" y="749808"/>
            <a:ext cx="3703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Question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120640" y="1298448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F5A3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"How predictable is March Madness, and have upset rates changed over time?"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166360" y="2286000"/>
            <a:ext cx="201168" cy="0"/>
          </a:xfrm>
          <a:prstGeom prst="line">
            <a:avLst/>
          </a:prstGeom>
          <a:noFill/>
          <a:ln w="25400">
            <a:solidFill>
              <a:srgbClr val="E866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486400" y="224028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seed matchups produce the most upsets?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166360" y="2898648"/>
            <a:ext cx="201168" cy="0"/>
          </a:xfrm>
          <a:prstGeom prst="line">
            <a:avLst/>
          </a:prstGeom>
          <a:noFill/>
          <a:ln w="25400">
            <a:solidFill>
              <a:srgbClr val="E866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486400" y="2852928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round is most chaotic?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166360" y="3511296"/>
            <a:ext cx="201168" cy="0"/>
          </a:xfrm>
          <a:prstGeom prst="line">
            <a:avLst/>
          </a:prstGeom>
          <a:noFill/>
          <a:ln w="25400">
            <a:solidFill>
              <a:srgbClr val="E866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486400" y="3465576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upset rates changed over time?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166360" y="4123944"/>
            <a:ext cx="201168" cy="0"/>
          </a:xfrm>
          <a:prstGeom prst="line">
            <a:avLst/>
          </a:prstGeom>
          <a:noFill/>
          <a:ln w="25400">
            <a:solidFill>
              <a:srgbClr val="E866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486400" y="4078224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seeding matter as much in later rounds?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1: Win % by Seed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49808"/>
            <a:ext cx="5943600" cy="4114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92240" y="777240"/>
            <a:ext cx="237744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6492240" y="777240"/>
            <a:ext cx="91440" cy="1188720"/>
          </a:xfrm>
          <a:prstGeom prst="rect">
            <a:avLst/>
          </a:prstGeom>
          <a:solidFill>
            <a:srgbClr val="E8660A"/>
          </a:solidFill>
          <a:ln w="12700">
            <a:solidFill>
              <a:srgbClr val="E866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675120" y="850392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E866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80.4%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6675120" y="1344168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1-seed win rate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675120" y="1618488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in tournament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92240" y="2148840"/>
            <a:ext cx="237744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6492240" y="2148840"/>
            <a:ext cx="91440" cy="1188720"/>
          </a:xfrm>
          <a:prstGeom prst="rect">
            <a:avLst/>
          </a:prstGeom>
          <a:solidFill>
            <a:srgbClr val="1A56A8"/>
          </a:solidFill>
          <a:ln w="12700">
            <a:solidFill>
              <a:srgbClr val="1A56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675120" y="2221992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A56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62.1%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6675120" y="2715768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4-seed win rate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675120" y="2990088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of 'top tier'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492240" y="3520440"/>
            <a:ext cx="237744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6492240" y="3520440"/>
            <a:ext cx="91440" cy="1188720"/>
          </a:xfrm>
          <a:prstGeom prst="rect">
            <a:avLst/>
          </a:prstGeom>
          <a:solidFill>
            <a:srgbClr val="0D7A5F"/>
          </a:solidFill>
          <a:ln w="12700">
            <a:solidFill>
              <a:srgbClr val="0D7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6675120" y="3593592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D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46.5%</a:t>
            </a:r>
            <a:endParaRPr lang="en-US" sz="3200" dirty="0"/>
          </a:p>
        </p:txBody>
      </p:sp>
      <p:sp>
        <p:nvSpPr>
          <p:cNvPr id="18" name="Text 15"/>
          <p:cNvSpPr/>
          <p:nvPr/>
        </p:nvSpPr>
        <p:spPr>
          <a:xfrm>
            <a:off x="6675120" y="4087368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11-seed win rate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675120" y="4361688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Nearly a coin flip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274320" y="4709160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Seeds 1–4 consistently dominate (62–80% win rate). Seeds 5–12 are far less predictable — Seed 11 wins nearly half its games.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1b: How Deep Each Seed Advances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49808"/>
            <a:ext cx="8595360" cy="4069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475488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1-seeds reach the Final Four ~40% of the time. Seeds 11–12 occasionally reach the Elite Eight, confirming the volatility of mid-range matchups.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2: Upset Rate by Tournament Round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49808"/>
            <a:ext cx="5943600" cy="40690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0" y="804672"/>
            <a:ext cx="246888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6400800" y="804672"/>
            <a:ext cx="91440" cy="1234440"/>
          </a:xfrm>
          <a:prstGeom prst="rect">
            <a:avLst/>
          </a:prstGeom>
          <a:solidFill>
            <a:srgbClr val="E8660A"/>
          </a:solidFill>
          <a:ln w="12700">
            <a:solidFill>
              <a:srgbClr val="E866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583680" y="86868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866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44.1%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6583680" y="1316736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Elite Eight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583680" y="1572768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upset rate — all remaining teams are proven winners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6400800" y="2221992"/>
            <a:ext cx="246888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6400800" y="2221992"/>
            <a:ext cx="91440" cy="1234440"/>
          </a:xfrm>
          <a:prstGeom prst="rect">
            <a:avLst/>
          </a:prstGeom>
          <a:solidFill>
            <a:srgbClr val="E8660A"/>
          </a:solidFill>
          <a:ln w="12700">
            <a:solidFill>
              <a:srgbClr val="E866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583680" y="228600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866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28.2%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6583680" y="2734056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Round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583680" y="2990088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total upsets (153) due to sheer volume of games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400800" y="3639312"/>
            <a:ext cx="246888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6400800" y="3639312"/>
            <a:ext cx="91440" cy="1234440"/>
          </a:xfrm>
          <a:prstGeom prst="rect">
            <a:avLst/>
          </a:prstGeom>
          <a:solidFill>
            <a:srgbClr val="E8660A"/>
          </a:solidFill>
          <a:ln w="12700">
            <a:solidFill>
              <a:srgbClr val="E866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6583680" y="370332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866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5.9%</a:t>
            </a:r>
            <a:endParaRPr lang="en-US" sz="3000" dirty="0"/>
          </a:p>
        </p:txBody>
      </p:sp>
      <p:sp>
        <p:nvSpPr>
          <p:cNvPr id="18" name="Text 15"/>
          <p:cNvSpPr/>
          <p:nvPr/>
        </p:nvSpPr>
        <p:spPr>
          <a:xfrm>
            <a:off x="6583680" y="4151376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Championship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583680" y="4407408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Favorites dominate the final stage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2b: First Round Upset Rate by Matchup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49808"/>
            <a:ext cx="6126480" cy="4114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537960" y="749808"/>
            <a:ext cx="2377440" cy="4572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6537960" y="749808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Volatile Matchups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537960" y="1307592"/>
            <a:ext cx="237744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6601968" y="134416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vs 11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516368" y="1344168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E866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48.5%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601968" y="1581912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Essentially a coin flip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6537960" y="1920240"/>
            <a:ext cx="237744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601968" y="195681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vs 9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516368" y="1956816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E866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48.5%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601968" y="2194560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Near-random outcome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6537960" y="2532888"/>
            <a:ext cx="237744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601968" y="2569464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vs 12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516368" y="2569464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E866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41.2%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601968" y="2807208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Cinderella territory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6537960" y="3145536"/>
            <a:ext cx="237744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6601968" y="318211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vs 10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7516368" y="3182112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E866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40.3%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601968" y="3419856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Highly unpredictable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6537960" y="3758184"/>
            <a:ext cx="237744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6601968" y="379476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vs 13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7516368" y="379476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E866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22.1%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601968" y="4032504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Occasional upset risk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6537960" y="4370832"/>
            <a:ext cx="237744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6601968" y="440740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vs 16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7516368" y="4407408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E866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2.9%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6601968" y="4645152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chalk in bracket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2c: Share of Round Wins by Seed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49808"/>
            <a:ext cx="6126480" cy="4114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583680" y="749808"/>
            <a:ext cx="2331720" cy="411480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6675120" y="822960"/>
            <a:ext cx="2148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675120" y="1316736"/>
            <a:ext cx="201168" cy="201168"/>
          </a:xfrm>
          <a:prstGeom prst="rect">
            <a:avLst/>
          </a:prstGeom>
          <a:solidFill>
            <a:srgbClr val="E8660A"/>
          </a:solidFill>
          <a:ln w="12700">
            <a:solidFill>
              <a:srgbClr val="E866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6967728" y="1261872"/>
            <a:ext cx="18288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1 claims 76% of Championship wins — completely dominant at the end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675120" y="2212848"/>
            <a:ext cx="201168" cy="201168"/>
          </a:xfrm>
          <a:prstGeom prst="rect">
            <a:avLst/>
          </a:prstGeom>
          <a:solidFill>
            <a:srgbClr val="E8660A"/>
          </a:solidFill>
          <a:ln w="12700">
            <a:solidFill>
              <a:srgbClr val="E866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6967728" y="2157984"/>
            <a:ext cx="18288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Round of 64, wins are spread relatively evenly across seeds 1–12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675120" y="3108960"/>
            <a:ext cx="201168" cy="201168"/>
          </a:xfrm>
          <a:prstGeom prst="rect">
            <a:avLst/>
          </a:prstGeom>
          <a:solidFill>
            <a:srgbClr val="E8660A"/>
          </a:solidFill>
          <a:ln w="12700">
            <a:solidFill>
              <a:srgbClr val="E866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967728" y="3054096"/>
            <a:ext cx="18288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seeds 1–4 consistently appear in the Final Four and Championship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675120" y="4005072"/>
            <a:ext cx="201168" cy="201168"/>
          </a:xfrm>
          <a:prstGeom prst="rect">
            <a:avLst/>
          </a:prstGeom>
          <a:solidFill>
            <a:srgbClr val="E8660A"/>
          </a:solidFill>
          <a:ln w="12700">
            <a:solidFill>
              <a:srgbClr val="E866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6967728" y="3950208"/>
            <a:ext cx="18288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Seeds 5–8 vanish almost entirely by the Elite Eight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3: Upset Rate Over Time (2008–2025)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49808"/>
            <a:ext cx="8595360" cy="3657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74320" y="4526280"/>
            <a:ext cx="8595360" cy="4572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411480" y="4608576"/>
            <a:ext cx="146304" cy="146304"/>
          </a:xfrm>
          <a:prstGeom prst="ellipse">
            <a:avLst/>
          </a:prstGeom>
          <a:solidFill>
            <a:srgbClr val="E8660A"/>
          </a:solidFill>
          <a:ln w="12700">
            <a:solidFill>
              <a:srgbClr val="E866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21792" y="4544568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slope: +0.04%/yr (p = 0.883 — not significant)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291840" y="4608576"/>
            <a:ext cx="146304" cy="146304"/>
          </a:xfrm>
          <a:prstGeom prst="ellipse">
            <a:avLst/>
          </a:prstGeom>
          <a:solidFill>
            <a:srgbClr val="E8660A"/>
          </a:solidFill>
          <a:ln w="12700">
            <a:solidFill>
              <a:srgbClr val="E866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3502152" y="4544568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Range: ~17%–35%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172200" y="4608576"/>
            <a:ext cx="146304" cy="146304"/>
          </a:xfrm>
          <a:prstGeom prst="ellipse">
            <a:avLst/>
          </a:prstGeom>
          <a:solidFill>
            <a:srgbClr val="E8660A"/>
          </a:solidFill>
          <a:ln w="12700">
            <a:solidFill>
              <a:srgbClr val="E866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382512" y="4544568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lowest in 20 years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3b: NIL Era vs. Pre-NIL Upset Rates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49808"/>
            <a:ext cx="4114800" cy="3200400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749808"/>
            <a:ext cx="4343400" cy="32004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274320" y="400507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(1985–2024)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4572000" y="4005072"/>
            <a:ext cx="4343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Round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274320" y="4343400"/>
            <a:ext cx="859536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457200" y="437083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NIL Era (2022+): 21.5% upset rate vs. Pre-NIL (1985–2021): 28.5%.  The NIL era shows lower upset rates across nearly every round — top programs may be better at retaining star talent.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3c: Upset Trends — Decade View &amp; Long-Run History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49808"/>
            <a:ext cx="4114800" cy="3200400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749808"/>
            <a:ext cx="4343400" cy="32004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274320" y="400507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Upset Rate by Decade (1985–2024)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4572000" y="4005072"/>
            <a:ext cx="4343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Trend with LOESS Smoothing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274320" y="4343400"/>
            <a:ext cx="859536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457200" y="437083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2010s were the most chaotic decade (29.4%). The 2000s and 2020s were similar (~23%). Long-run LOESS trend shows an uptick mid-decade followed by a sharp recent decline.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Statistical Deep Dive: Are Seeds 5–12 Actually Different?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49808"/>
            <a:ext cx="6126480" cy="4114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583680" y="749808"/>
            <a:ext cx="2331720" cy="41148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6675120" y="822960"/>
            <a:ext cx="2148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866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ANOVA Results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675120" y="1280160"/>
            <a:ext cx="2148840" cy="777240"/>
          </a:xfrm>
          <a:prstGeom prst="rect">
            <a:avLst/>
          </a:prstGeom>
          <a:solidFill>
            <a:srgbClr val="152560"/>
          </a:solidFill>
          <a:ln w="635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6748272" y="1316736"/>
            <a:ext cx="2011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A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5 vs 12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748272" y="1554480"/>
            <a:ext cx="2011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0.007 **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748272" y="1792224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86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675120" y="2167128"/>
            <a:ext cx="2148840" cy="777240"/>
          </a:xfrm>
          <a:prstGeom prst="rect">
            <a:avLst/>
          </a:prstGeom>
          <a:solidFill>
            <a:srgbClr val="152560"/>
          </a:solidFill>
          <a:ln w="635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748272" y="2203704"/>
            <a:ext cx="2011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A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6 vs 11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748272" y="2441448"/>
            <a:ext cx="2011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0.623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748272" y="2679192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significant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675120" y="3054096"/>
            <a:ext cx="2148840" cy="777240"/>
          </a:xfrm>
          <a:prstGeom prst="rect">
            <a:avLst/>
          </a:prstGeom>
          <a:solidFill>
            <a:srgbClr val="152560"/>
          </a:solidFill>
          <a:ln w="635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748272" y="3090672"/>
            <a:ext cx="2011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A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7 vs 10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748272" y="3328416"/>
            <a:ext cx="2011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0.094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748272" y="356616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Borderline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6675120" y="3941064"/>
            <a:ext cx="2148840" cy="777240"/>
          </a:xfrm>
          <a:prstGeom prst="rect">
            <a:avLst/>
          </a:prstGeom>
          <a:solidFill>
            <a:srgbClr val="152560"/>
          </a:solidFill>
          <a:ln w="635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6748272" y="3977640"/>
            <a:ext cx="2011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A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8 vs 9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748272" y="4215384"/>
            <a:ext cx="2011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0.583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748272" y="4453128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significant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Statistical Deep Dive: Seeding Importance &amp; Seed 1 vs. Seed 2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49808"/>
            <a:ext cx="4297680" cy="3200400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749808"/>
            <a:ext cx="4160520" cy="32004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274320" y="4041648"/>
            <a:ext cx="4297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Seeding importance weakens as the tournament progresses — r = –0.54 in Round 1 drops to –0.04 in the Elite Eight (not significant), then recovers slightly in the Final Four and Championship.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4754880" y="4041648"/>
            <a:ext cx="4160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1 vs. Seed 2 gap is statistically significant only in the Final Four (p = 0.048). At the Championship, the gap widens numerically (65% vs. 33%) but remains non-significant (p = 0.098) due to small sample size.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Upset-Prone Matchups &amp; Deep Tournament Runs (1985–2024)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49808"/>
            <a:ext cx="4251960" cy="4114800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749808"/>
            <a:ext cx="4160520" cy="41148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274320" y="4754880"/>
            <a:ext cx="4251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vs 15 matchup has the highest all-time upset rate (80%) — small sample but remarkable. 4 vs 8 and 8 vs 9 follow.</a:t>
            </a:r>
            <a:endParaRPr lang="en-US" sz="950" dirty="0"/>
          </a:p>
        </p:txBody>
      </p:sp>
      <p:sp>
        <p:nvSpPr>
          <p:cNvPr id="7" name="Text 3"/>
          <p:cNvSpPr/>
          <p:nvPr/>
        </p:nvSpPr>
        <p:spPr>
          <a:xfrm>
            <a:off x="4709160" y="4754880"/>
            <a:ext cx="4160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1 teams account for 50 Sweet 16 appearances and 13 championships. No seed above 11 has made the Championship.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B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E8660A"/>
          </a:solidFill>
          <a:ln w="12700">
            <a:solidFill>
              <a:srgbClr val="E866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Real-World Examples That Align With the Data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804672"/>
            <a:ext cx="2606040" cy="1828800"/>
          </a:xfrm>
          <a:prstGeom prst="rect">
            <a:avLst/>
          </a:prstGeom>
          <a:solidFill>
            <a:srgbClr val="0A1438"/>
          </a:solidFill>
          <a:ln w="6350">
            <a:solidFill>
              <a:srgbClr val="1E3A7A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75488" y="896112"/>
            <a:ext cx="502920" cy="502920"/>
          </a:xfrm>
          <a:prstGeom prst="ellipse">
            <a:avLst/>
          </a:prstGeom>
          <a:solidFill>
            <a:srgbClr val="E8660A"/>
          </a:solidFill>
          <a:ln w="12700">
            <a:solidFill>
              <a:srgbClr val="E866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75488" y="89611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0704" y="9326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A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2018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75488" y="146304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UMBC over Virginia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75488" y="1810512"/>
            <a:ext cx="2377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BE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First-ever 16-seed win in tournament history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154680" y="804672"/>
            <a:ext cx="2606040" cy="1828800"/>
          </a:xfrm>
          <a:prstGeom prst="rect">
            <a:avLst/>
          </a:prstGeom>
          <a:solidFill>
            <a:srgbClr val="0A1438"/>
          </a:solidFill>
          <a:ln w="6350">
            <a:solidFill>
              <a:srgbClr val="1E3A7A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264408" y="896112"/>
            <a:ext cx="502920" cy="502920"/>
          </a:xfrm>
          <a:prstGeom prst="ellipse">
            <a:avLst/>
          </a:prstGeom>
          <a:solidFill>
            <a:srgbClr val="E8660A"/>
          </a:solidFill>
          <a:ln w="12700">
            <a:solidFill>
              <a:srgbClr val="E866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264408" y="89611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849624" y="9326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A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64408" y="146304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FDU over Purdue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264408" y="1810512"/>
            <a:ext cx="2377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BE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second 16-seed victory ever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943600" y="804672"/>
            <a:ext cx="2606040" cy="1828800"/>
          </a:xfrm>
          <a:prstGeom prst="rect">
            <a:avLst/>
          </a:prstGeom>
          <a:solidFill>
            <a:srgbClr val="0A1438"/>
          </a:solidFill>
          <a:ln w="6350">
            <a:solidFill>
              <a:srgbClr val="1E3A7A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053328" y="896112"/>
            <a:ext cx="502920" cy="502920"/>
          </a:xfrm>
          <a:prstGeom prst="ellipse">
            <a:avLst/>
          </a:prstGeom>
          <a:solidFill>
            <a:srgbClr val="E8660A"/>
          </a:solidFill>
          <a:ln w="12700">
            <a:solidFill>
              <a:srgbClr val="E866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053328" y="89611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638544" y="9326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A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053328" y="146304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Saint Peter's → Elite Eight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053328" y="1810512"/>
            <a:ext cx="2377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BE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Deepest run by a 15-seed ever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1755648" y="2834640"/>
            <a:ext cx="2606040" cy="1828800"/>
          </a:xfrm>
          <a:prstGeom prst="rect">
            <a:avLst/>
          </a:prstGeom>
          <a:solidFill>
            <a:srgbClr val="0A1438"/>
          </a:solidFill>
          <a:ln w="6350">
            <a:solidFill>
              <a:srgbClr val="1E3A7A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865376" y="2926080"/>
            <a:ext cx="502920" cy="502920"/>
          </a:xfrm>
          <a:prstGeom prst="ellipse">
            <a:avLst/>
          </a:prstGeom>
          <a:solidFill>
            <a:srgbClr val="E8660A"/>
          </a:solidFill>
          <a:ln w="12700">
            <a:solidFill>
              <a:srgbClr val="E866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865376" y="29260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2450592" y="2962656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A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2018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865376" y="3493008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Loyola Chicago → Final Four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865376" y="3840480"/>
            <a:ext cx="2377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BE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Sister Jean became a national story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44568" y="2834640"/>
            <a:ext cx="2606040" cy="1828800"/>
          </a:xfrm>
          <a:prstGeom prst="rect">
            <a:avLst/>
          </a:prstGeom>
          <a:solidFill>
            <a:srgbClr val="0A1438"/>
          </a:solidFill>
          <a:ln w="6350">
            <a:solidFill>
              <a:srgbClr val="1E3A7A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654296" y="2926080"/>
            <a:ext cx="502920" cy="502920"/>
          </a:xfrm>
          <a:prstGeom prst="ellipse">
            <a:avLst/>
          </a:prstGeom>
          <a:solidFill>
            <a:srgbClr val="E8660A"/>
          </a:solidFill>
          <a:ln w="12700">
            <a:solidFill>
              <a:srgbClr val="E866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654296" y="29260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239512" y="2962656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A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654296" y="3493008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 State → Final Four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654296" y="3840480"/>
            <a:ext cx="2377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8BE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 5 consecutive elimination games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B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E8660A"/>
          </a:solidFill>
          <a:ln w="12700">
            <a:solidFill>
              <a:srgbClr val="E866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Conclusion: How Predictable Is March Madness?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475488" cy="475488"/>
          </a:xfrm>
          <a:prstGeom prst="ellipse">
            <a:avLst/>
          </a:prstGeom>
          <a:solidFill>
            <a:srgbClr val="E8660A"/>
          </a:solidFill>
          <a:ln w="12700">
            <a:solidFill>
              <a:srgbClr val="E866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20040" y="91440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60120" y="749808"/>
            <a:ext cx="7818120" cy="822960"/>
          </a:xfrm>
          <a:prstGeom prst="rect">
            <a:avLst/>
          </a:prstGeom>
          <a:solidFill>
            <a:srgbClr val="0A1438"/>
          </a:solidFill>
          <a:ln w="19050">
            <a:solidFill>
              <a:srgbClr val="0D7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960120" y="749808"/>
            <a:ext cx="109728" cy="822960"/>
          </a:xfrm>
          <a:prstGeom prst="rect">
            <a:avLst/>
          </a:prstGeom>
          <a:solidFill>
            <a:srgbClr val="0D7A5F"/>
          </a:solidFill>
          <a:ln w="12700">
            <a:solidFill>
              <a:srgbClr val="0D7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170432" y="786384"/>
            <a:ext cx="7498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A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Partially Predictable at the Top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70432" y="1060704"/>
            <a:ext cx="7498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Seeds 1–4 win 62–80% of games. Bracket structure genuinely reflects team quality.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0040" y="1920240"/>
            <a:ext cx="475488" cy="475488"/>
          </a:xfrm>
          <a:prstGeom prst="ellipse">
            <a:avLst/>
          </a:prstGeom>
          <a:solidFill>
            <a:srgbClr val="E8660A"/>
          </a:solidFill>
          <a:ln w="12700">
            <a:solidFill>
              <a:srgbClr val="E866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20040" y="192024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960120" y="1755648"/>
            <a:ext cx="7818120" cy="822960"/>
          </a:xfrm>
          <a:prstGeom prst="rect">
            <a:avLst/>
          </a:prstGeom>
          <a:solidFill>
            <a:srgbClr val="0A1438"/>
          </a:solidFill>
          <a:ln w="1905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960120" y="1755648"/>
            <a:ext cx="109728" cy="82296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170432" y="1792224"/>
            <a:ext cx="7498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A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Highly Volatile in the Middle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70432" y="2066544"/>
            <a:ext cx="7498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Seeds 5–12 produce 40–48% upset rates. 6 vs 11 and 8 vs 9 are essentially coin flips.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20040" y="2926080"/>
            <a:ext cx="475488" cy="475488"/>
          </a:xfrm>
          <a:prstGeom prst="ellipse">
            <a:avLst/>
          </a:prstGeom>
          <a:solidFill>
            <a:srgbClr val="E8660A"/>
          </a:solidFill>
          <a:ln w="12700">
            <a:solidFill>
              <a:srgbClr val="E866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20040" y="292608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960120" y="2761488"/>
            <a:ext cx="7818120" cy="822960"/>
          </a:xfrm>
          <a:prstGeom prst="rect">
            <a:avLst/>
          </a:prstGeom>
          <a:solidFill>
            <a:srgbClr val="0A1438"/>
          </a:solidFill>
          <a:ln w="19050">
            <a:solidFill>
              <a:srgbClr val="1A56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960120" y="2761488"/>
            <a:ext cx="109728" cy="822960"/>
          </a:xfrm>
          <a:prstGeom prst="rect">
            <a:avLst/>
          </a:prstGeom>
          <a:solidFill>
            <a:srgbClr val="1A56A8"/>
          </a:solidFill>
          <a:ln w="12700">
            <a:solidFill>
              <a:srgbClr val="1A56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170432" y="2798064"/>
            <a:ext cx="7498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A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Matters Most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170432" y="3072384"/>
            <a:ext cx="7498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Elite Eight: highest upset rate (44.1%). Championship: most predictable (5.9%). Chaos peaks mid-tournament.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20040" y="3931920"/>
            <a:ext cx="475488" cy="475488"/>
          </a:xfrm>
          <a:prstGeom prst="ellipse">
            <a:avLst/>
          </a:prstGeom>
          <a:solidFill>
            <a:srgbClr val="E8660A"/>
          </a:solidFill>
          <a:ln w="12700">
            <a:solidFill>
              <a:srgbClr val="E866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20040" y="393192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960120" y="3767328"/>
            <a:ext cx="7818120" cy="822960"/>
          </a:xfrm>
          <a:prstGeom prst="rect">
            <a:avLst/>
          </a:prstGeom>
          <a:solidFill>
            <a:srgbClr val="0A1438"/>
          </a:solidFill>
          <a:ln w="19050">
            <a:solidFill>
              <a:srgbClr val="5B21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960120" y="3767328"/>
            <a:ext cx="109728" cy="822960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1170432" y="3803904"/>
            <a:ext cx="7498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A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Significant Time Trend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170432" y="4078224"/>
            <a:ext cx="7498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8D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Upset rates fluctuated 17–35% since 2008 with no statistically significant trajectory.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365760" y="470916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7090B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"March Madness is partially predictable at the extremes — but fundamentally chaotic in the middle rounds where games are decided."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1046</Words>
  <Application>Microsoft Office PowerPoint</Application>
  <PresentationFormat>On-screen Show (16:9)</PresentationFormat>
  <Paragraphs>171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Predictable Is March Madness?</dc:title>
  <dc:subject>PptxGenJS Presentation</dc:subject>
  <dc:creator>PptxGenJS</dc:creator>
  <cp:lastModifiedBy>Zeghibe, Michael W</cp:lastModifiedBy>
  <cp:revision>1</cp:revision>
  <dcterms:created xsi:type="dcterms:W3CDTF">2026-04-27T17:42:58Z</dcterms:created>
  <dcterms:modified xsi:type="dcterms:W3CDTF">2026-04-27T17:46:16Z</dcterms:modified>
</cp:coreProperties>
</file>